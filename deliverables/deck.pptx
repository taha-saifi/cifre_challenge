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32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domaine est un terrain, pas le sujet. Le sujet, c'est ce qui arrive à une recommandation quand le graphe qui la nourrit est incomplet.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règle tenue de bout en bout : rien n'est inventé, rien n'est remplacé. Une source inaccessible est enregistrée comme inaccessible. Et sur la contradiction : les deux dates ont été extraites, une seule a survécu à la validation — le graphe affirme « 11 août » sans trace qu'une autre date existait. La porte humaine statue sur des étiquettes de relation, jamais sur la cohérence des valeurs. C'est une limite découverte, pas un choix.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contribution centrale, et elle est née d'un échec — slide 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d'objectivation — une ligne par étape où un jugement aurait pu s'introduire, et le mécanisme qui l'a remplacé.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LLM seul ne se trompe pas beaucoup : il n'avance presque rien de contrôlable. Sur l'arbitrage SharePoint il choisit la mauvaise CVE, au motif que le numéro le plus élevé serait le plus récent.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généralisation est argumentée, pas démontrée : aucun second domaine n'a été traité dans le temps imparti. C'est la première validation de la roadmap.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trajectoire remonte les cinq niveaux : cas d'usage, décision métier, problème expérimental, question scientifique, question de thèse. Le décompte de porteurs est l'amorce empirique, pas le point d'arrivée — la thèse commence là où il devient une métrique de complétude indépendante du domaine. Sur les limites, deux méritent d'être dites avant qu'on les trouve : la précision de 0,026 est un artefact d'annotation éparse et non un échec, et la contradiction sur la date du PoC montre que la validation humaine statue sur des étiquettes de relation, jamais sur la cohérence des valeurs. Enfin, si la démo interactive est montrée : configurations 5 et 8, contexte identique à une phrase près, décisions opposées — le modèle lit bien le contexte, mais la formulation du signalement est une variable que nous n'avons jamais mesurée. Voir deliverables/demo_script.md.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6000" y="324000"/>
            <a:ext cx="10800000" cy="324000"/>
          </a:xfrm>
          <a:prstGeom prst="rect">
            <a:avLst/>
          </a:prstGeom>
          <a:noFill/>
        </p:spPr>
        <p:txBody>
          <a:bodyPr wrap="none">
            <a:spAutoFit/>
          </a:bodyPr>
          <a:lstStyle/>
          <a:p>
            <a:r>
              <a:rPr sz="1100" b="1">
                <a:solidFill>
                  <a:srgbClr val="0E7490"/>
                </a:solidFill>
              </a:rPr>
              <a:t>01 — 1 — Mission choisie et problème traité</a:t>
            </a:r>
          </a:p>
        </p:txBody>
      </p:sp>
      <p:sp>
        <p:nvSpPr>
          <p:cNvPr id="3" name="TextBox 2"/>
          <p:cNvSpPr txBox="1"/>
          <p:nvPr/>
        </p:nvSpPr>
        <p:spPr>
          <a:xfrm>
            <a:off x="576000" y="648000"/>
            <a:ext cx="11016000" cy="864000"/>
          </a:xfrm>
          <a:prstGeom prst="rect">
            <a:avLst/>
          </a:prstGeom>
          <a:noFill/>
        </p:spPr>
        <p:txBody>
          <a:bodyPr wrap="square">
            <a:spAutoFit/>
          </a:bodyPr>
          <a:lstStyle/>
          <a:p>
            <a:r>
              <a:rPr sz="2600" b="1">
                <a:solidFill>
                  <a:srgbClr val="171B21"/>
                </a:solidFill>
              </a:rPr>
              <a:t>« Nous ne pouvons patcher qu'une chose cette semaine. Laquelle ? »</a:t>
            </a:r>
          </a:p>
        </p:txBody>
      </p:sp>
      <p:sp>
        <p:nvSpPr>
          <p:cNvPr id="4" name="TextBox 3"/>
          <p:cNvSpPr txBox="1"/>
          <p:nvPr/>
        </p:nvSpPr>
        <p:spPr>
          <a:xfrm>
            <a:off x="576000" y="1655999"/>
            <a:ext cx="11016000" cy="4752000"/>
          </a:xfrm>
          <a:prstGeom prst="rect">
            <a:avLst/>
          </a:prstGeom>
          <a:noFill/>
        </p:spPr>
        <p:txBody>
          <a:bodyPr wrap="square">
            <a:spAutoFit/>
          </a:bodyPr>
          <a:lstStyle/>
          <a:p>
            <a:pPr>
              <a:spcAft>
                <a:spcPts val="500"/>
              </a:spcAft>
            </a:pPr>
            <a:r>
              <a:rPr sz="1500">
                <a:solidFill>
                  <a:srgbClr val="171B21"/>
                </a:solidFill>
              </a:rPr>
              <a:t>• Priorisation de correctifs de sécurité — 5 CVE au catalogue CISA KEV, août 2026.</a:t>
            </a:r>
          </a:p>
          <a:p>
            <a:pPr>
              <a:spcAft>
                <a:spcPts val="500"/>
              </a:spcAft>
            </a:pPr>
            <a:r>
              <a:rPr sz="1500">
                <a:solidFill>
                  <a:srgbClr val="171B21"/>
                </a:solidFill>
              </a:rPr>
              <a:t>• Deux failles SharePoint chaînables, une faille IKE Windows, une vCenter, une macOS.</a:t>
            </a:r>
          </a:p>
          <a:p>
            <a:pPr>
              <a:spcAft>
                <a:spcPts val="500"/>
              </a:spcAft>
            </a:pPr>
            <a:r>
              <a:rPr sz="1500">
                <a:solidFill>
                  <a:srgbClr val="171B21"/>
                </a:solidFill>
              </a:rPr>
              <a:t>• Décider suppose une relation (le chaînage), une condition (l'exposition), une</a:t>
            </a:r>
          </a:p>
          <a:p>
            <a:pPr lvl="1">
              <a:spcAft>
                <a:spcPts val="500"/>
              </a:spcAft>
            </a:pPr>
            <a:r>
              <a:rPr sz="1500">
                <a:solidFill>
                  <a:srgbClr val="5A6472"/>
                </a:solidFill>
              </a:rPr>
              <a:t>échéance (l'obligation CISA), une contradiction (CVSS 8,1 mais EPSS 0,029), et</a:t>
            </a:r>
          </a:p>
          <a:p>
            <a:pPr lvl="1">
              <a:spcAft>
                <a:spcPts val="500"/>
              </a:spcAft>
            </a:pPr>
            <a:r>
              <a:rPr sz="1500">
                <a:solidFill>
                  <a:srgbClr val="5A6472"/>
                </a:solidFill>
              </a:rPr>
              <a:t>une absence (aucun contournement documenté pour vCenter).</a:t>
            </a:r>
          </a:p>
          <a:p>
            <a:pPr>
              <a:spcAft>
                <a:spcPts val="500"/>
              </a:spcAft>
            </a:pPr>
            <a:r>
              <a:rPr sz="1500">
                <a:solidFill>
                  <a:srgbClr val="171B21"/>
                </a:solidFill>
              </a:rPr>
              <a:t>• Aucune de ces cinq choses ne se lit dans un document isolé.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6000" y="324000"/>
            <a:ext cx="10800000" cy="324000"/>
          </a:xfrm>
          <a:prstGeom prst="rect">
            <a:avLst/>
          </a:prstGeom>
          <a:noFill/>
        </p:spPr>
        <p:txBody>
          <a:bodyPr wrap="none">
            <a:spAutoFit/>
          </a:bodyPr>
          <a:lstStyle/>
          <a:p>
            <a:r>
              <a:rPr sz="1100" b="1">
                <a:solidFill>
                  <a:srgbClr val="0E7490"/>
                </a:solidFill>
              </a:rPr>
              <a:t>02 — 2 — Corpus web et qualité des sources</a:t>
            </a:r>
          </a:p>
        </p:txBody>
      </p:sp>
      <p:sp>
        <p:nvSpPr>
          <p:cNvPr id="3" name="TextBox 2"/>
          <p:cNvSpPr txBox="1"/>
          <p:nvPr/>
        </p:nvSpPr>
        <p:spPr>
          <a:xfrm>
            <a:off x="576000" y="648000"/>
            <a:ext cx="11016000" cy="864000"/>
          </a:xfrm>
          <a:prstGeom prst="rect">
            <a:avLst/>
          </a:prstGeom>
          <a:noFill/>
        </p:spPr>
        <p:txBody>
          <a:bodyPr wrap="square">
            <a:spAutoFit/>
          </a:bodyPr>
          <a:lstStyle/>
          <a:p>
            <a:r>
              <a:rPr sz="2600" b="1">
                <a:solidFill>
                  <a:srgbClr val="171B21"/>
                </a:solidFill>
              </a:rPr>
              <a:t>9 familles de sources portent la décision ; 48 autres fichiers corroborent</a:t>
            </a:r>
          </a:p>
        </p:txBody>
      </p:sp>
      <p:sp>
        <p:nvSpPr>
          <p:cNvPr id="4" name="TextBox 3"/>
          <p:cNvSpPr txBox="1"/>
          <p:nvPr/>
        </p:nvSpPr>
        <p:spPr>
          <a:xfrm>
            <a:off x="576000" y="1655999"/>
            <a:ext cx="11016000" cy="4752000"/>
          </a:xfrm>
          <a:prstGeom prst="rect">
            <a:avLst/>
          </a:prstGeom>
          <a:noFill/>
        </p:spPr>
        <p:txBody>
          <a:bodyPr wrap="square">
            <a:spAutoFit/>
          </a:bodyPr>
          <a:lstStyle/>
          <a:p>
            <a:pPr>
              <a:spcAft>
                <a:spcPts val="500"/>
              </a:spcAft>
            </a:pPr>
            <a:r>
              <a:rPr sz="1500">
                <a:solidFill>
                  <a:srgbClr val="171B21"/>
                </a:solidFill>
              </a:rPr>
              <a:t>• 57 sources déclarées, 56 exploitables → 9 familles principales : NVD, FIRST EPSS,</a:t>
            </a:r>
          </a:p>
          <a:p>
            <a:pPr lvl="1">
              <a:spcAft>
                <a:spcPts val="500"/>
              </a:spcAft>
            </a:pPr>
            <a:r>
              <a:rPr sz="1500">
                <a:solidFill>
                  <a:srgbClr val="5A6472"/>
                </a:solidFill>
              </a:rPr>
              <a:t>CISA KEV, CISA BOD 26-04, MSRC, Rapid7, VulnCheck, Apple, Broadcom.</a:t>
            </a:r>
          </a:p>
          <a:p>
            <a:pPr>
              <a:spcAft>
                <a:spcPts val="500"/>
              </a:spcAft>
            </a:pPr>
            <a:r>
              <a:rPr sz="1500">
                <a:solidFill>
                  <a:srgbClr val="171B21"/>
                </a:solidFill>
              </a:rPr>
              <a:t>• Scoring par règle unique : autorité, niveau de preuve, accessibilité.</a:t>
            </a:r>
          </a:p>
          <a:p>
            <a:pPr>
              <a:spcAft>
                <a:spcPts val="500"/>
              </a:spcAft>
            </a:pPr>
            <a:r>
              <a:rPr sz="1500">
                <a:solidFill>
                  <a:srgbClr val="171B21"/>
                </a:solidFill>
              </a:rPr>
              <a:t>• Deux dimensions non instrumentées et déclarées comme telles : fraîcheur et</a:t>
            </a:r>
          </a:p>
          <a:p>
            <a:pPr lvl="1">
              <a:spcAft>
                <a:spcPts val="500"/>
              </a:spcAft>
            </a:pPr>
            <a:r>
              <a:rPr sz="1500">
                <a:solidFill>
                  <a:srgbClr val="5A6472"/>
                </a:solidFill>
              </a:rPr>
              <a:t>stabilité — le seul champ temporel est un horodatage de collecte.</a:t>
            </a:r>
          </a:p>
          <a:p>
            <a:pPr>
              <a:spcAft>
                <a:spcPts val="500"/>
              </a:spcAft>
            </a:pPr>
            <a:r>
              <a:rPr sz="1500">
                <a:solidFill>
                  <a:srgbClr val="171B21"/>
                </a:solidFill>
              </a:rPr>
              <a:t>• Deux lacunes de source documentées : S27 (login éditeur requis, délibérément non</a:t>
            </a:r>
          </a:p>
          <a:p>
            <a:pPr lvl="1">
              <a:spcAft>
                <a:spcPts val="500"/>
              </a:spcAft>
            </a:pPr>
            <a:r>
              <a:rPr sz="1500">
                <a:solidFill>
                  <a:srgbClr val="5A6472"/>
                </a:solidFill>
              </a:rPr>
              <a:t>tentée), S58 (page KEV sans données par-CVE).</a:t>
            </a:r>
          </a:p>
          <a:p>
            <a:pPr>
              <a:spcAft>
                <a:spcPts val="500"/>
              </a:spcAft>
            </a:pPr>
            <a:r>
              <a:rPr sz="1500">
                <a:solidFill>
                  <a:srgbClr val="171B21"/>
                </a:solidFill>
              </a:rPr>
              <a:t>• Une contradiction inter-sources conservée : date du PoC de CVE-2026-55040, 11 août</a:t>
            </a:r>
          </a:p>
          <a:p>
            <a:pPr lvl="1">
              <a:spcAft>
                <a:spcPts val="500"/>
              </a:spcAft>
            </a:pPr>
            <a:r>
              <a:rPr sz="1500">
                <a:solidFill>
                  <a:srgbClr val="5A6472"/>
                </a:solidFill>
              </a:rPr>
              <a:t>(S10, VulnCheck) contre 13 août (S17, DIESEC) — non arbitrée.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6000" y="324000"/>
            <a:ext cx="10800000" cy="324000"/>
          </a:xfrm>
          <a:prstGeom prst="rect">
            <a:avLst/>
          </a:prstGeom>
          <a:noFill/>
        </p:spPr>
        <p:txBody>
          <a:bodyPr wrap="none">
            <a:spAutoFit/>
          </a:bodyPr>
          <a:lstStyle/>
          <a:p>
            <a:r>
              <a:rPr sz="1100" b="1">
                <a:solidFill>
                  <a:srgbClr val="0E7490"/>
                </a:solidFill>
              </a:rPr>
              <a:t>03 — 3 — Représentation de connaissance / mini-KG</a:t>
            </a:r>
          </a:p>
        </p:txBody>
      </p:sp>
      <p:sp>
        <p:nvSpPr>
          <p:cNvPr id="3" name="TextBox 2"/>
          <p:cNvSpPr txBox="1"/>
          <p:nvPr/>
        </p:nvSpPr>
        <p:spPr>
          <a:xfrm>
            <a:off x="576000" y="648000"/>
            <a:ext cx="11016000" cy="864000"/>
          </a:xfrm>
          <a:prstGeom prst="rect">
            <a:avLst/>
          </a:prstGeom>
          <a:noFill/>
        </p:spPr>
        <p:txBody>
          <a:bodyPr wrap="square">
            <a:spAutoFit/>
          </a:bodyPr>
          <a:lstStyle/>
          <a:p>
            <a:r>
              <a:rPr sz="2600" b="1">
                <a:solidFill>
                  <a:srgbClr val="171B21"/>
                </a:solidFill>
              </a:rPr>
              <a:t>Un graphe sans schéma présupposé : les relations sont découvertes, pas décrétées</a:t>
            </a:r>
          </a:p>
        </p:txBody>
      </p:sp>
      <p:sp>
        <p:nvSpPr>
          <p:cNvPr id="4" name="TextBox 3"/>
          <p:cNvSpPr txBox="1"/>
          <p:nvPr/>
        </p:nvSpPr>
        <p:spPr>
          <a:xfrm>
            <a:off x="576000" y="1655999"/>
            <a:ext cx="11016000" cy="4752000"/>
          </a:xfrm>
          <a:prstGeom prst="rect">
            <a:avLst/>
          </a:prstGeom>
          <a:noFill/>
        </p:spPr>
        <p:txBody>
          <a:bodyPr wrap="square">
            <a:spAutoFit/>
          </a:bodyPr>
          <a:lstStyle/>
          <a:p>
            <a:pPr>
              <a:spcAft>
                <a:spcPts val="500"/>
              </a:spcAft>
            </a:pPr>
            <a:r>
              <a:rPr sz="1500">
                <a:solidFill>
                  <a:srgbClr val="171B21"/>
                </a:solidFill>
              </a:rPr>
              <a:t>• Pipeline non-LLM, auditable : OpenIE (MinIE) sur le texte libre + mappage</a:t>
            </a:r>
          </a:p>
          <a:p>
            <a:pPr lvl="1">
              <a:spcAft>
                <a:spcPts val="500"/>
              </a:spcAft>
            </a:pPr>
            <a:r>
              <a:rPr sz="1500">
                <a:solidFill>
                  <a:srgbClr val="5A6472"/>
                </a:solidFill>
              </a:rPr>
              <a:t>déterministe des champs structurés (NVD, EPSS).</a:t>
            </a:r>
          </a:p>
          <a:p>
            <a:pPr>
              <a:spcAft>
                <a:spcPts val="500"/>
              </a:spcAft>
            </a:pPr>
            <a:r>
              <a:rPr sz="1500">
                <a:solidFill>
                  <a:srgbClr val="171B21"/>
                </a:solidFill>
              </a:rPr>
              <a:t>• 56 sources → 4 401 arêtes ouvertes → 2 123 arêtes canoniques sur 1 867 nœuds.</a:t>
            </a:r>
          </a:p>
          <a:p>
            <a:pPr>
              <a:spcAft>
                <a:spcPts val="500"/>
              </a:spcAft>
            </a:pPr>
            <a:r>
              <a:rPr sz="1500">
                <a:solidFill>
                  <a:srgbClr val="171B21"/>
                </a:solidFill>
              </a:rPr>
              <a:t>• Chaque assertion conserve source_id + le texte exact qui la justifie.</a:t>
            </a:r>
          </a:p>
          <a:p>
            <a:pPr>
              <a:spcAft>
                <a:spcPts val="500"/>
              </a:spcAft>
            </a:pPr>
            <a:r>
              <a:rPr sz="1500">
                <a:solidFill>
                  <a:srgbClr val="171B21"/>
                </a:solidFill>
              </a:rPr>
              <a:t>• Aucune arête ne devient canonique sans validation humaine.</a:t>
            </a:r>
          </a:p>
          <a:p>
            <a:pPr>
              <a:spcAft>
                <a:spcPts val="500"/>
              </a:spcAft>
            </a:pPr>
            <a:r>
              <a:rPr sz="1500">
                <a:solidFill>
                  <a:srgbClr val="171B21"/>
                </a:solidFill>
              </a:rPr>
              <a:t>• Vue de présentation projetée par règle : 27 nœuds / 21 arêtes, provenance conservée.</a:t>
            </a:r>
          </a:p>
          <a:p>
            <a:pPr lvl="1">
              <a:spcAft>
                <a:spcPts val="500"/>
              </a:spcAft>
            </a:pPr>
            <a:r>
              <a:rPr sz="1500">
                <a:solidFill>
                  <a:srgbClr val="5A6472"/>
                </a:solidFill>
              </a:rPr>
              <a:t>La vue de présentation (les 5 CVE, leurs correctifs, faiblesses, éditeurs, et l'arête de</a:t>
            </a:r>
          </a:p>
          <a:p>
            <a:pPr lvl="1">
              <a:spcAft>
                <a:spcPts val="500"/>
              </a:spcAft>
            </a:pPr>
            <a:r>
              <a:rPr sz="1500">
                <a:solidFill>
                  <a:srgbClr val="5A6472"/>
                </a:solidFill>
              </a:rPr>
              <a:t>chaînage), avec en encart le rapport d'échelle au graphe complet.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6000" y="324000"/>
            <a:ext cx="10800000" cy="324000"/>
          </a:xfrm>
          <a:prstGeom prst="rect">
            <a:avLst/>
          </a:prstGeom>
          <a:noFill/>
        </p:spPr>
        <p:txBody>
          <a:bodyPr wrap="none">
            <a:spAutoFit/>
          </a:bodyPr>
          <a:lstStyle/>
          <a:p>
            <a:r>
              <a:rPr sz="1100" b="1">
                <a:solidFill>
                  <a:srgbClr val="0E7490"/>
                </a:solidFill>
              </a:rPr>
              <a:t>04 — 4 — Relations critiques et knowledge gaps</a:t>
            </a:r>
          </a:p>
        </p:txBody>
      </p:sp>
      <p:sp>
        <p:nvSpPr>
          <p:cNvPr id="3" name="TextBox 2"/>
          <p:cNvSpPr txBox="1"/>
          <p:nvPr/>
        </p:nvSpPr>
        <p:spPr>
          <a:xfrm>
            <a:off x="576000" y="648000"/>
            <a:ext cx="11016000" cy="864000"/>
          </a:xfrm>
          <a:prstGeom prst="rect">
            <a:avLst/>
          </a:prstGeom>
          <a:noFill/>
        </p:spPr>
        <p:txBody>
          <a:bodyPr wrap="square">
            <a:spAutoFit/>
          </a:bodyPr>
          <a:lstStyle/>
          <a:p>
            <a:r>
              <a:rPr sz="2600" b="1">
                <a:solidFill>
                  <a:srgbClr val="171B21"/>
                </a:solidFill>
              </a:rPr>
              <a:t>Une relation est critique quand elle est le seul porteur du fait — c'est un nombre, pas une intuition</a:t>
            </a:r>
          </a:p>
        </p:txBody>
      </p:sp>
      <p:sp>
        <p:nvSpPr>
          <p:cNvPr id="4" name="TextBox 3"/>
          <p:cNvSpPr txBox="1"/>
          <p:nvPr/>
        </p:nvSpPr>
        <p:spPr>
          <a:xfrm>
            <a:off x="576000" y="1655999"/>
            <a:ext cx="11016000" cy="4752000"/>
          </a:xfrm>
          <a:prstGeom prst="rect">
            <a:avLst/>
          </a:prstGeom>
          <a:noFill/>
        </p:spPr>
        <p:txBody>
          <a:bodyPr wrap="square">
            <a:spAutoFit/>
          </a:bodyPr>
          <a:lstStyle/>
          <a:p>
            <a:pPr>
              <a:spcAft>
                <a:spcPts val="500"/>
              </a:spcAft>
            </a:pPr>
            <a:r>
              <a:rPr sz="1500">
                <a:solidFill>
                  <a:srgbClr val="171B21"/>
                </a:solidFill>
              </a:rPr>
              <a:t>• Typologie §7 rendue mécaniquement décidable : le fait est-il dans le corpus ? dans</a:t>
            </a:r>
          </a:p>
          <a:p>
            <a:pPr lvl="1">
              <a:spcAft>
                <a:spcPts val="500"/>
              </a:spcAft>
            </a:pPr>
            <a:r>
              <a:rPr sz="1500">
                <a:solidFill>
                  <a:srgbClr val="5A6472"/>
                </a:solidFill>
              </a:rPr>
              <a:t>les extractions ? dans le graphe sous une étiquette exploitable ? → lacune de source /</a:t>
            </a:r>
          </a:p>
          <a:p>
            <a:pPr lvl="1">
              <a:spcAft>
                <a:spcPts val="500"/>
              </a:spcAft>
            </a:pPr>
            <a:r>
              <a:rPr sz="1500">
                <a:solidFill>
                  <a:srgbClr val="5A6472"/>
                </a:solidFill>
              </a:rPr>
              <a:t>d'extraction / de relation.</a:t>
            </a:r>
          </a:p>
          <a:p>
            <a:pPr>
              <a:spcAft>
                <a:spcPts val="500"/>
              </a:spcAft>
            </a:pPr>
            <a:r>
              <a:rPr sz="1500">
                <a:solidFill>
                  <a:srgbClr val="171B21"/>
                </a:solidFill>
              </a:rPr>
              <a:t>• Notion de porteur : arête dont le texte-preuve porte le fait visé.</a:t>
            </a:r>
          </a:p>
          <a:p>
            <a:pPr>
              <a:spcAft>
                <a:spcPts val="500"/>
              </a:spcAft>
            </a:pPr>
            <a:r>
              <a:rPr sz="1500">
                <a:solidFill>
                  <a:srgbClr val="171B21"/>
                </a:solidFill>
              </a:rPr>
              <a:t>• Profil mesuré : de 1 porteur (statut d'exploitation macOS) à 12 (chaînage</a:t>
            </a:r>
          </a:p>
          <a:p>
            <a:pPr lvl="1">
              <a:spcAft>
                <a:spcPts val="500"/>
              </a:spcAft>
            </a:pPr>
            <a:r>
              <a:rPr sz="1500">
                <a:solidFill>
                  <a:srgbClr val="5A6472"/>
                </a:solidFill>
              </a:rPr>
              <a:t>SharePoint).</a:t>
            </a:r>
          </a:p>
          <a:p>
            <a:pPr>
              <a:spcAft>
                <a:spcPts val="500"/>
              </a:spcAft>
            </a:pPr>
            <a:r>
              <a:rPr sz="1500">
                <a:solidFill>
                  <a:srgbClr val="171B21"/>
                </a:solidFill>
              </a:rPr>
              <a:t>• Exemple de lacune d'extraction réelle : S17 énonce que Broadcom a publié des correctifs</a:t>
            </a:r>
          </a:p>
          <a:p>
            <a:pPr lvl="1">
              <a:spcAft>
                <a:spcPts val="500"/>
              </a:spcAft>
            </a:pPr>
            <a:r>
              <a:rPr sz="1500">
                <a:solidFill>
                  <a:srgbClr val="5A6472"/>
                </a:solidFill>
              </a:rPr>
              <a:t>pour vCenter ; le sous-graphe n'en contient aucune trace.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6000" y="324000"/>
            <a:ext cx="10800000" cy="324000"/>
          </a:xfrm>
          <a:prstGeom prst="rect">
            <a:avLst/>
          </a:prstGeom>
          <a:noFill/>
        </p:spPr>
        <p:txBody>
          <a:bodyPr wrap="none">
            <a:spAutoFit/>
          </a:bodyPr>
          <a:lstStyle/>
          <a:p>
            <a:r>
              <a:rPr sz="1100" b="1">
                <a:solidFill>
                  <a:srgbClr val="0E7490"/>
                </a:solidFill>
              </a:rPr>
              <a:t>05 — 5 — Protocole expérimental</a:t>
            </a:r>
          </a:p>
        </p:txBody>
      </p:sp>
      <p:sp>
        <p:nvSpPr>
          <p:cNvPr id="3" name="TextBox 2"/>
          <p:cNvSpPr txBox="1"/>
          <p:nvPr/>
        </p:nvSpPr>
        <p:spPr>
          <a:xfrm>
            <a:off x="576000" y="648000"/>
            <a:ext cx="11016000" cy="864000"/>
          </a:xfrm>
          <a:prstGeom prst="rect">
            <a:avLst/>
          </a:prstGeom>
          <a:noFill/>
        </p:spPr>
        <p:txBody>
          <a:bodyPr wrap="square">
            <a:spAutoFit/>
          </a:bodyPr>
          <a:lstStyle/>
          <a:p>
            <a:r>
              <a:rPr sz="2600" b="1">
                <a:solidFill>
                  <a:srgbClr val="171B21"/>
                </a:solidFill>
              </a:rPr>
              <a:t>9 tâches × 5 configurations = 45 cellules, et aucune étape laissée au jugement</a:t>
            </a:r>
          </a:p>
        </p:txBody>
      </p:sp>
      <p:sp>
        <p:nvSpPr>
          <p:cNvPr id="4" name="TextBox 3"/>
          <p:cNvSpPr txBox="1"/>
          <p:nvPr/>
        </p:nvSpPr>
        <p:spPr>
          <a:xfrm>
            <a:off x="576000" y="1655999"/>
            <a:ext cx="11016000" cy="4752000"/>
          </a:xfrm>
          <a:prstGeom prst="rect">
            <a:avLst/>
          </a:prstGeom>
          <a:noFill/>
        </p:spPr>
        <p:txBody>
          <a:bodyPr wrap="square">
            <a:spAutoFit/>
          </a:bodyPr>
          <a:lstStyle/>
          <a:p>
            <a:pPr>
              <a:spcAft>
                <a:spcPts val="500"/>
              </a:spcAft>
            </a:pPr>
            <a:r>
              <a:rPr sz="1500">
                <a:solidFill>
                  <a:srgbClr val="171B21"/>
                </a:solidFill>
              </a:rPr>
              <a:t>• Configurations §13 : LLM seul · KG complet · KG incomplet · KG avant validation ·</a:t>
            </a:r>
          </a:p>
          <a:p>
            <a:pPr lvl="1">
              <a:spcAft>
                <a:spcPts val="500"/>
              </a:spcAft>
            </a:pPr>
            <a:r>
              <a:rPr sz="1500">
                <a:solidFill>
                  <a:srgbClr val="5A6472"/>
                </a:solidFill>
              </a:rPr>
              <a:t>KG incomplet + signalement.</a:t>
            </a:r>
          </a:p>
          <a:p>
            <a:pPr>
              <a:spcAft>
                <a:spcPts val="500"/>
              </a:spcAft>
            </a:pPr>
            <a:r>
              <a:rPr sz="1500">
                <a:solidFill>
                  <a:srgbClr val="171B21"/>
                </a:solidFill>
              </a:rPr>
              <a:t>• Un appel par cellule, aucun retry, agent isolé ignorant le protocole. Prompt</a:t>
            </a:r>
          </a:p>
          <a:p>
            <a:pPr lvl="1">
              <a:spcAft>
                <a:spcPts val="500"/>
              </a:spcAft>
            </a:pPr>
            <a:r>
              <a:rPr sz="1500">
                <a:solidFill>
                  <a:srgbClr val="5A6472"/>
                </a:solidFill>
              </a:rPr>
              <a:t>identique dans les 5 configurations ; seul le contexte varie.</a:t>
            </a:r>
          </a:p>
          <a:p>
            <a:pPr>
              <a:spcAft>
                <a:spcPts val="500"/>
              </a:spcAft>
            </a:pPr>
            <a:r>
              <a:rPr sz="1500">
                <a:solidFill>
                  <a:srgbClr val="171B21"/>
                </a:solidFill>
              </a:rPr>
              <a:t>• 32 tâches candidates énumérées, 9 retenues par règle écrite, 23 écartées avec motif.</a:t>
            </a:r>
          </a:p>
          <a:p>
            <a:pPr>
              <a:spcAft>
                <a:spcPts val="500"/>
              </a:spcAft>
            </a:pPr>
            <a:r>
              <a:rPr sz="1500">
                <a:solidFill>
                  <a:srgbClr val="171B21"/>
                </a:solidFill>
              </a:rPr>
              <a:t>• Les cibles d'ablation sont calculées, pas choisies : l'ablation est l'ensemble</a:t>
            </a:r>
          </a:p>
          <a:p>
            <a:pPr lvl="1">
              <a:spcAft>
                <a:spcPts val="500"/>
              </a:spcAft>
            </a:pPr>
            <a:r>
              <a:rPr sz="1500">
                <a:solidFill>
                  <a:srgbClr val="5A6472"/>
                </a:solidFill>
              </a:rPr>
              <a:t>complet des porteurs.</a:t>
            </a:r>
          </a:p>
          <a:p>
            <a:pPr>
              <a:spcAft>
                <a:spcPts val="500"/>
              </a:spcAft>
            </a:pPr>
            <a:r>
              <a:rPr sz="1500">
                <a:solidFill>
                  <a:srgbClr val="171B21"/>
                </a:solidFill>
              </a:rPr>
              <a:t>• Clé de décision pré-enregistrée avant toute exécution.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6000" y="324000"/>
            <a:ext cx="10800000" cy="324000"/>
          </a:xfrm>
          <a:prstGeom prst="rect">
            <a:avLst/>
          </a:prstGeom>
          <a:noFill/>
        </p:spPr>
        <p:txBody>
          <a:bodyPr wrap="none">
            <a:spAutoFit/>
          </a:bodyPr>
          <a:lstStyle/>
          <a:p>
            <a:r>
              <a:rPr sz="1100" b="1">
                <a:solidFill>
                  <a:srgbClr val="0E7490"/>
                </a:solidFill>
              </a:rPr>
              <a:t>06 — 6 — Métriques, baselines et premiers résultats</a:t>
            </a:r>
          </a:p>
        </p:txBody>
      </p:sp>
      <p:sp>
        <p:nvSpPr>
          <p:cNvPr id="3" name="TextBox 2"/>
          <p:cNvSpPr txBox="1"/>
          <p:nvPr/>
        </p:nvSpPr>
        <p:spPr>
          <a:xfrm>
            <a:off x="576000" y="648000"/>
            <a:ext cx="11016000" cy="864000"/>
          </a:xfrm>
          <a:prstGeom prst="rect">
            <a:avLst/>
          </a:prstGeom>
          <a:noFill/>
        </p:spPr>
        <p:txBody>
          <a:bodyPr wrap="square">
            <a:spAutoFit/>
          </a:bodyPr>
          <a:lstStyle/>
          <a:p>
            <a:r>
              <a:rPr sz="2600" b="1">
                <a:solidFill>
                  <a:srgbClr val="171B21"/>
                </a:solidFill>
              </a:rPr>
              <a:t>Le graphe ne rend pas le modèle moins faux : il le rend vérifiable</a:t>
            </a:r>
          </a:p>
        </p:txBody>
      </p:sp>
      <p:sp>
        <p:nvSpPr>
          <p:cNvPr id="4" name="TextBox 3"/>
          <p:cNvSpPr txBox="1"/>
          <p:nvPr/>
        </p:nvSpPr>
        <p:spPr>
          <a:xfrm>
            <a:off x="576000" y="1655999"/>
            <a:ext cx="11016000" cy="4752000"/>
          </a:xfrm>
          <a:prstGeom prst="rect">
            <a:avLst/>
          </a:prstGeom>
          <a:noFill/>
        </p:spPr>
        <p:txBody>
          <a:bodyPr wrap="square">
            <a:spAutoFit/>
          </a:bodyPr>
          <a:lstStyle/>
          <a:p>
            <a:pPr lvl="1">
              <a:spcAft>
                <a:spcPts val="500"/>
              </a:spcAft>
            </a:pPr>
            <a:r>
              <a:rPr sz="1300">
                <a:solidFill>
                  <a:srgbClr val="5A6472"/>
                </a:solidFill>
              </a:rPr>
              <a:t>Configuration  ·  Exactitude  ·  Incertitude nommée</a:t>
            </a:r>
          </a:p>
          <a:p>
            <a:pPr lvl="1">
              <a:spcAft>
                <a:spcPts val="500"/>
              </a:spcAft>
            </a:pPr>
            <a:r>
              <a:rPr sz="1300">
                <a:solidFill>
                  <a:srgbClr val="5A6472"/>
                </a:solidFill>
              </a:rPr>
              <a:t>LLM seul  ·  3/9  ·  6/9</a:t>
            </a:r>
          </a:p>
          <a:p>
            <a:pPr lvl="1">
              <a:spcAft>
                <a:spcPts val="500"/>
              </a:spcAft>
            </a:pPr>
            <a:r>
              <a:rPr sz="1300">
                <a:solidFill>
                  <a:srgbClr val="5A6472"/>
                </a:solidFill>
              </a:rPr>
              <a:t>KG complet  ·  9/9  ·  3/9</a:t>
            </a:r>
          </a:p>
          <a:p>
            <a:pPr lvl="1">
              <a:spcAft>
                <a:spcPts val="500"/>
              </a:spcAft>
            </a:pPr>
            <a:r>
              <a:rPr sz="1300">
                <a:solidFill>
                  <a:srgbClr val="5A6472"/>
                </a:solidFill>
              </a:rPr>
              <a:t>KG incomplet  ·  7/9  ·  5/9</a:t>
            </a:r>
          </a:p>
          <a:p>
            <a:pPr lvl="1">
              <a:spcAft>
                <a:spcPts val="500"/>
              </a:spcAft>
            </a:pPr>
            <a:r>
              <a:rPr sz="1300">
                <a:solidFill>
                  <a:srgbClr val="5A6472"/>
                </a:solidFill>
              </a:rPr>
              <a:t>KG avant validation  ·  8/9  ·  4/9</a:t>
            </a:r>
          </a:p>
          <a:p>
            <a:pPr lvl="1">
              <a:spcAft>
                <a:spcPts val="500"/>
              </a:spcAft>
            </a:pPr>
            <a:r>
              <a:rPr sz="1300">
                <a:solidFill>
                  <a:srgbClr val="5A6472"/>
                </a:solidFill>
              </a:rPr>
              <a:t>KG incomplet + signalement  ·  7/9  ·  8/9</a:t>
            </a:r>
          </a:p>
          <a:p>
            <a:pPr>
              <a:spcAft>
                <a:spcPts val="500"/>
              </a:spcAft>
            </a:pPr>
            <a:r>
              <a:rPr sz="1300">
                <a:solidFill>
                  <a:srgbClr val="171B21"/>
                </a:solidFill>
              </a:rPr>
              <a:t>• 16 jetons vérifiables sans graphe, 556 avec — facteur 35.</a:t>
            </a:r>
          </a:p>
          <a:p>
            <a:pPr>
              <a:spcAft>
                <a:spcPts val="500"/>
              </a:spcAft>
            </a:pPr>
            <a:r>
              <a:rPr sz="1300">
                <a:solidFill>
                  <a:srgbClr val="171B21"/>
                </a:solidFill>
              </a:rPr>
              <a:t>• Grounding et citations calculés par correspondance de chaînes. Aucun modèle ne note</a:t>
            </a:r>
          </a:p>
          <a:p>
            <a:pPr lvl="1">
              <a:spcAft>
                <a:spcPts val="500"/>
              </a:spcAft>
            </a:pPr>
            <a:r>
              <a:rPr sz="1300">
                <a:solidFill>
                  <a:srgbClr val="5A6472"/>
                </a:solidFill>
              </a:rPr>
              <a:t>aucune réponse (§21 : le LLM-as-a-Judge sans contrôle est éliminatoire).</a:t>
            </a:r>
          </a:p>
          <a:p>
            <a:pPr>
              <a:spcAft>
                <a:spcPts val="500"/>
              </a:spcAft>
            </a:pPr>
            <a:r>
              <a:rPr sz="1300">
                <a:solidFill>
                  <a:srgbClr val="171B21"/>
                </a:solidFill>
              </a:rPr>
              <a:t>• Signalement : à information égale, l'incertitude passe de 5 à 8 réponses sur 9 **sans</a:t>
            </a:r>
          </a:p>
          <a:p>
            <a:pPr lvl="1">
              <a:spcAft>
                <a:spcPts val="500"/>
              </a:spcAft>
            </a:pPr>
            <a:r>
              <a:rPr sz="1300">
                <a:solidFill>
                  <a:srgbClr val="5A6472"/>
                </a:solidFill>
              </a:rPr>
              <a:t>perte d'exactitude**.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6000" y="324000"/>
            <a:ext cx="10800000" cy="324000"/>
          </a:xfrm>
          <a:prstGeom prst="rect">
            <a:avLst/>
          </a:prstGeom>
          <a:noFill/>
        </p:spPr>
        <p:txBody>
          <a:bodyPr wrap="none">
            <a:spAutoFit/>
          </a:bodyPr>
          <a:lstStyle/>
          <a:p>
            <a:r>
              <a:rPr sz="1100" b="1">
                <a:solidFill>
                  <a:srgbClr val="0E7490"/>
                </a:solidFill>
              </a:rPr>
              <a:t>07 — 7 — Composant produit et généralisation</a:t>
            </a:r>
          </a:p>
        </p:txBody>
      </p:sp>
      <p:sp>
        <p:nvSpPr>
          <p:cNvPr id="3" name="TextBox 2"/>
          <p:cNvSpPr txBox="1"/>
          <p:nvPr/>
        </p:nvSpPr>
        <p:spPr>
          <a:xfrm>
            <a:off x="576000" y="648000"/>
            <a:ext cx="11016000" cy="864000"/>
          </a:xfrm>
          <a:prstGeom prst="rect">
            <a:avLst/>
          </a:prstGeom>
          <a:noFill/>
        </p:spPr>
        <p:txBody>
          <a:bodyPr wrap="square">
            <a:spAutoFit/>
          </a:bodyPr>
          <a:lstStyle/>
          <a:p>
            <a:r>
              <a:rPr sz="2600" b="1">
                <a:solidFill>
                  <a:srgbClr val="171B21"/>
                </a:solidFill>
              </a:rPr>
              <a:t>Un détecteur de redondance relationnelle — construit, appliqué, et qui a corrigé notre propre conclusion</a:t>
            </a:r>
          </a:p>
        </p:txBody>
      </p:sp>
      <p:sp>
        <p:nvSpPr>
          <p:cNvPr id="4" name="TextBox 3"/>
          <p:cNvSpPr txBox="1"/>
          <p:nvPr/>
        </p:nvSpPr>
        <p:spPr>
          <a:xfrm>
            <a:off x="576000" y="1655999"/>
            <a:ext cx="11016000" cy="4752000"/>
          </a:xfrm>
          <a:prstGeom prst="rect">
            <a:avLst/>
          </a:prstGeom>
          <a:noFill/>
        </p:spPr>
        <p:txBody>
          <a:bodyPr wrap="square">
            <a:spAutoFit/>
          </a:bodyPr>
          <a:lstStyle/>
          <a:p>
            <a:pPr>
              <a:spcAft>
                <a:spcPts val="500"/>
              </a:spcAft>
            </a:pPr>
            <a:r>
              <a:rPr sz="1500">
                <a:solidFill>
                  <a:srgbClr val="171B21"/>
                </a:solidFill>
              </a:rPr>
              <a:t>• Pour un fait : combien d'arêtes le portent, sous quelles étiquettes, que resterait-il</a:t>
            </a:r>
          </a:p>
          <a:p>
            <a:pPr lvl="1">
              <a:spcAft>
                <a:spcPts val="500"/>
              </a:spcAft>
            </a:pPr>
            <a:r>
              <a:rPr sz="1500">
                <a:solidFill>
                  <a:srgbClr val="5A6472"/>
                </a:solidFill>
              </a:rPr>
              <a:t>si on retirait la principale ?</a:t>
            </a:r>
          </a:p>
          <a:p>
            <a:pPr>
              <a:spcAft>
                <a:spcPts val="500"/>
              </a:spcAft>
            </a:pPr>
            <a:r>
              <a:rPr sz="1500">
                <a:solidFill>
                  <a:srgbClr val="171B21"/>
                </a:solidFill>
              </a:rPr>
              <a:t>• Avant génération : un fait à porteur unique est un point de fragilité.</a:t>
            </a:r>
          </a:p>
          <a:p>
            <a:pPr>
              <a:spcAft>
                <a:spcPts val="500"/>
              </a:spcAft>
            </a:pPr>
            <a:r>
              <a:rPr sz="1500">
                <a:solidFill>
                  <a:srgbClr val="171B21"/>
                </a:solidFill>
              </a:rPr>
              <a:t>• Avant expérimentation : toute évaluation par ablation sur un graphe d'extraction</a:t>
            </a:r>
          </a:p>
          <a:p>
            <a:pPr lvl="1">
              <a:spcAft>
                <a:spcPts val="500"/>
              </a:spcAft>
            </a:pPr>
            <a:r>
              <a:rPr sz="1500">
                <a:solidFill>
                  <a:srgbClr val="5A6472"/>
                </a:solidFill>
              </a:rPr>
              <a:t>ouverte est ininterprétable sans ce décompte.</a:t>
            </a:r>
          </a:p>
          <a:p>
            <a:pPr>
              <a:spcAft>
                <a:spcPts val="500"/>
              </a:spcAft>
            </a:pPr>
            <a:r>
              <a:rPr sz="1500">
                <a:solidFill>
                  <a:srgbClr val="171B21"/>
                </a:solidFill>
              </a:rPr>
              <a:t>• Généralisation par construction — aucun schéma présupposé, le décompte ne dépend que</a:t>
            </a:r>
          </a:p>
          <a:p>
            <a:pPr lvl="1">
              <a:spcAft>
                <a:spcPts val="500"/>
              </a:spcAft>
            </a:pPr>
            <a:r>
              <a:rPr sz="1500">
                <a:solidFill>
                  <a:srgbClr val="5A6472"/>
                </a:solidFill>
              </a:rPr>
              <a:t>d'un couple d'entités et d'un texte-preuve :</a:t>
            </a:r>
          </a:p>
          <a:p>
            <a:pPr lvl="1">
              <a:spcAft>
                <a:spcPts val="500"/>
              </a:spcAft>
            </a:pPr>
            <a:r>
              <a:rPr sz="1500">
                <a:solidFill>
                  <a:srgbClr val="5A6472"/>
                </a:solidFill>
              </a:rPr>
              <a:t>santé (contre-indication) · droit (règle/exception) · finance (méthode de calcul datée)</a:t>
            </a:r>
          </a:p>
          <a:p>
            <a:pPr lvl="1">
              <a:spcAft>
                <a:spcPts val="500"/>
              </a:spcAft>
            </a:pPr>
            <a:r>
              <a:rPr sz="1500">
                <a:solidFill>
                  <a:srgbClr val="5A6472"/>
                </a:solidFill>
              </a:rPr>
              <a:t>· éducation (prérequis).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6000" y="324000"/>
            <a:ext cx="10800000" cy="324000"/>
          </a:xfrm>
          <a:prstGeom prst="rect">
            <a:avLst/>
          </a:prstGeom>
          <a:noFill/>
        </p:spPr>
        <p:txBody>
          <a:bodyPr wrap="none">
            <a:spAutoFit/>
          </a:bodyPr>
          <a:lstStyle/>
          <a:p>
            <a:r>
              <a:rPr sz="1100" b="1">
                <a:solidFill>
                  <a:srgbClr val="0E7490"/>
                </a:solidFill>
              </a:rPr>
              <a:t>08 — 8 — Roadmap CIFRE, risques et limites</a:t>
            </a:r>
          </a:p>
        </p:txBody>
      </p:sp>
      <p:sp>
        <p:nvSpPr>
          <p:cNvPr id="3" name="TextBox 2"/>
          <p:cNvSpPr txBox="1"/>
          <p:nvPr/>
        </p:nvSpPr>
        <p:spPr>
          <a:xfrm>
            <a:off x="576000" y="648000"/>
            <a:ext cx="11016000" cy="864000"/>
          </a:xfrm>
          <a:prstGeom prst="rect">
            <a:avLst/>
          </a:prstGeom>
          <a:noFill/>
        </p:spPr>
        <p:txBody>
          <a:bodyPr wrap="square">
            <a:spAutoFit/>
          </a:bodyPr>
          <a:lstStyle/>
          <a:p>
            <a:r>
              <a:rPr sz="2600" b="1">
                <a:solidFill>
                  <a:srgbClr val="171B21"/>
                </a:solidFill>
              </a:rPr>
              <a:t>De la mesure d'un cas à une méthode d'évaluation de la complétude</a:t>
            </a:r>
          </a:p>
        </p:txBody>
      </p:sp>
      <p:sp>
        <p:nvSpPr>
          <p:cNvPr id="4" name="TextBox 3"/>
          <p:cNvSpPr txBox="1"/>
          <p:nvPr/>
        </p:nvSpPr>
        <p:spPr>
          <a:xfrm>
            <a:off x="576000" y="1655999"/>
            <a:ext cx="11016000" cy="4752000"/>
          </a:xfrm>
          <a:prstGeom prst="rect">
            <a:avLst/>
          </a:prstGeom>
          <a:noFill/>
        </p:spPr>
        <p:txBody>
          <a:bodyPr wrap="square">
            <a:spAutoFit/>
          </a:bodyPr>
          <a:lstStyle/>
          <a:p>
            <a:pPr>
              <a:spcAft>
                <a:spcPts val="500"/>
              </a:spcAft>
            </a:pPr>
            <a:r>
              <a:rPr sz="1100">
                <a:solidFill>
                  <a:srgbClr val="171B21"/>
                </a:solidFill>
              </a:rPr>
              <a:t>• 0–6 mois — généraliser le décompte de porteurs en **métrique de complétude</a:t>
            </a:r>
          </a:p>
          <a:p>
            <a:pPr lvl="1">
              <a:spcAft>
                <a:spcPts val="500"/>
              </a:spcAft>
            </a:pPr>
            <a:r>
              <a:rPr sz="1100">
                <a:solidFill>
                  <a:srgbClr val="5A6472"/>
                </a:solidFill>
              </a:rPr>
              <a:t>indépendante du domaine** ; formaliser l'ablation comme méthode reproductible.</a:t>
            </a:r>
          </a:p>
          <a:p>
            <a:pPr>
              <a:spcAft>
                <a:spcPts val="500"/>
              </a:spcAft>
            </a:pPr>
            <a:r>
              <a:rPr sz="1100">
                <a:solidFill>
                  <a:srgbClr val="171B21"/>
                </a:solidFill>
              </a:rPr>
              <a:t>• 6–12 mois — second domaine, idéalement un cas SpotworkAI ; benchmark</a:t>
            </a:r>
          </a:p>
          <a:p>
            <a:pPr lvl="1">
              <a:spcAft>
                <a:spcPts val="500"/>
              </a:spcAft>
            </a:pPr>
            <a:r>
              <a:rPr sz="1100">
                <a:solidFill>
                  <a:srgbClr val="5A6472"/>
                </a:solidFill>
              </a:rPr>
              <a:t>RAG / GraphRAG / KG-aware ; première publication méthodologique.</a:t>
            </a:r>
          </a:p>
          <a:p>
            <a:pPr>
              <a:spcAft>
                <a:spcPts val="500"/>
              </a:spcAft>
            </a:pPr>
            <a:r>
              <a:rPr sz="1100">
                <a:solidFill>
                  <a:srgbClr val="171B21"/>
                </a:solidFill>
              </a:rPr>
              <a:t>• 12–24 mois — du rétrospectif au prédictif : repérer les faits fragiles avant</a:t>
            </a:r>
          </a:p>
          <a:p>
            <a:pPr lvl="1">
              <a:spcAft>
                <a:spcPts val="500"/>
              </a:spcAft>
            </a:pPr>
            <a:r>
              <a:rPr sz="1100">
                <a:solidFill>
                  <a:srgbClr val="5A6472"/>
                </a:solidFill>
              </a:rPr>
              <a:t>génération ; confrontation à GraphRAG, à la complétion de graphe, et au LLM-as-a-Judge.</a:t>
            </a:r>
          </a:p>
          <a:p>
            <a:pPr>
              <a:spcAft>
                <a:spcPts val="500"/>
              </a:spcAft>
            </a:pPr>
            <a:r>
              <a:rPr sz="1100">
                <a:solidFill>
                  <a:srgbClr val="171B21"/>
                </a:solidFill>
              </a:rPr>
              <a:t>• 24–36 mois — validation sur cas et bases réels SpotworkAI ; composant intégré à la</a:t>
            </a:r>
          </a:p>
          <a:p>
            <a:pPr lvl="1">
              <a:spcAft>
                <a:spcPts val="500"/>
              </a:spcAft>
            </a:pPr>
            <a:r>
              <a:rPr sz="1100">
                <a:solidFill>
                  <a:srgbClr val="5A6472"/>
                </a:solidFill>
              </a:rPr>
              <a:t>plateforme ; thèse.</a:t>
            </a:r>
          </a:p>
          <a:p>
            <a:pPr>
              <a:spcAft>
                <a:spcPts val="500"/>
              </a:spcAft>
            </a:pPr>
            <a:r>
              <a:rPr sz="1100">
                <a:solidFill>
                  <a:srgbClr val="171B21"/>
                </a:solidFill>
              </a:rPr>
              <a:t>• Limites — résolution d'entités quasi inopérante (3 699 → 3 697) · 1 154 clusters</a:t>
            </a:r>
          </a:p>
          <a:p>
            <a:pPr lvl="1">
              <a:spcAft>
                <a:spcPts val="500"/>
              </a:spcAft>
            </a:pPr>
            <a:r>
              <a:rPr sz="1100">
                <a:solidFill>
                  <a:srgbClr val="5A6472"/>
                </a:solidFill>
              </a:rPr>
              <a:t>non revus sur 2 111 · précision 0,026 du gold set, artefact d'annotation éparse ·</a:t>
            </a:r>
          </a:p>
          <a:p>
            <a:pPr lvl="1">
              <a:spcAft>
                <a:spcPts val="500"/>
              </a:spcAft>
            </a:pPr>
            <a:r>
              <a:rPr sz="1100">
                <a:solidFill>
                  <a:srgbClr val="5A6472"/>
                </a:solidFill>
              </a:rPr>
              <a:t>crédibilité des sources non propagée au graphe · aucune couche actif/exposition dans le</a:t>
            </a:r>
          </a:p>
          <a:p>
            <a:pPr lvl="1">
              <a:spcAft>
                <a:spcPts val="500"/>
              </a:spcAft>
            </a:pPr>
            <a:r>
              <a:rPr sz="1100">
                <a:solidFill>
                  <a:srgbClr val="5A6472"/>
                </a:solidFill>
              </a:rPr>
              <a:t>graphe · une contradiction inter-sources arbitrée par le silence.</a:t>
            </a:r>
          </a:p>
          <a:p>
            <a:pPr>
              <a:spcAft>
                <a:spcPts val="500"/>
              </a:spcAft>
            </a:pPr>
            <a:r>
              <a:rPr sz="1100">
                <a:solidFill>
                  <a:srgbClr val="171B21"/>
                </a:solidFill>
              </a:rPr>
              <a:t>• Outil de démonstration — même template de prompt que les 45 cellules, **transport et</a:t>
            </a:r>
          </a:p>
          <a:p>
            <a:pPr lvl="1">
              <a:spcAft>
                <a:spcPts val="500"/>
              </a:spcAft>
            </a:pPr>
            <a:r>
              <a:rPr sz="1100">
                <a:solidFill>
                  <a:srgbClr val="5A6472"/>
                </a:solidFill>
              </a:rPr>
              <a:t>modèle différents** (API OpenRouter, modèles gratuits) : illustre le mécanisme, non</a:t>
            </a:r>
          </a:p>
          <a:p>
            <a:pPr lvl="1">
              <a:spcAft>
                <a:spcPts val="500"/>
              </a:spcAft>
            </a:pPr>
            <a:r>
              <a:rPr sz="1100">
                <a:solidFill>
                  <a:srgbClr val="5A6472"/>
                </a:solidFill>
              </a:rPr>
              <a:t>comparable en exactitude à resultats.md.</a:t>
            </a:r>
          </a:p>
          <a:p>
            <a:pPr>
              <a:spcAft>
                <a:spcPts val="500"/>
              </a:spcAft>
            </a:pPr>
            <a:r>
              <a:rPr sz="1100">
                <a:solidFill>
                  <a:srgbClr val="171B21"/>
                </a:solidFill>
              </a:rPr>
              <a:t>• Risque principal — que la redondance relationnelle soit propre aux extractions</a:t>
            </a:r>
          </a:p>
          <a:p>
            <a:pPr lvl="1">
              <a:spcAft>
                <a:spcPts val="500"/>
              </a:spcAft>
            </a:pPr>
            <a:r>
              <a:rPr sz="1100">
                <a:solidFill>
                  <a:srgbClr val="5A6472"/>
                </a:solidFill>
              </a:rPr>
              <a:t>ouvertes et non aux graphes sur schéma.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